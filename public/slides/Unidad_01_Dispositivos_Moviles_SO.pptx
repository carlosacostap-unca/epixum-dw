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8C257"/>
              </a:solidFill>
              <a:effectLst/>
            </c:spPr>
          </c:dPt>
          <c:dPt>
            <c:idx val="1"/>
            <c:bubble3D val="0"/>
            <c:spPr>
              <a:solidFill>
                <a:srgbClr val="5AAAFA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Otros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70.4</c:v>
                </c:pt>
                <c:pt idx="1">
                  <c:v>29.2</c:v>
                </c:pt>
                <c:pt idx="2">
                  <c:v>0.4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164592" cy="21945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UNIDAD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 a los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Dispositivos Móviles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Sistemas Operativos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Móviles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011680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834640"/>
            <a:ext cx="548640" cy="5486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200400"/>
            <a:ext cx="502920" cy="5029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32E4F"/>
          </a:solidFill>
          <a:ln/>
        </p:spPr>
      </p:sp>
      <p:sp>
        <p:nvSpPr>
          <p:cNvPr id="12" name="Text 6"/>
          <p:cNvSpPr/>
          <p:nvPr/>
        </p:nvSpPr>
        <p:spPr>
          <a:xfrm>
            <a:off x="548640" y="4709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Ing. Carlos Acosta Parra  |  FTyCA — UNCA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CONTENIDOS DE LA UNIDAD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8229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1247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Dispositivos Móviles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14904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características técnicas y evolución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73152" cy="8229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20848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Operativos Móviles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24505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 iOS: arquitectura, ecosistema y comparación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971800"/>
            <a:ext cx="73152" cy="8229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2971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546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3044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Tendencias y Desafíos del Mercado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965960" y="34107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5G, suscripciones, privacidad y regulación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148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65960" y="40050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Accesibilidad y Sostenibilidad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965960" y="43708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WCAG, diseño inclusivo y desarrollo verde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Dispositivos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Móviles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características técnicas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 Dispositivos Móviles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06040" cy="73152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6-7", procesadores multinúcleo, 4-16 GB RAM, cámaras de hasta 200 MP, 5G.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05840"/>
            <a:ext cx="2606040" cy="73152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8-13", orientadas a productividad y contenido. iPadOS ~52%, Android ~48%.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05840"/>
            <a:ext cx="2606040" cy="73152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Wearables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377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Smartwatches, pulseras fitness y auriculares inteligentes con sensores de salud y LTE.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554480" y="37947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554480" y="3794760"/>
            <a:ext cx="73152" cy="109728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0233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3172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Plegables (Foldables)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33172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ventas globales en 2025. Pantallas OLED flexibles &gt;7.5". Samsung, Oppo, Honor lideran.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846320" y="37947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3794760"/>
            <a:ext cx="73152" cy="109728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0233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Otros Dispositivos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62356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E-readers, consolas portátiles, drones, dispositivos IoT y visores de realidad extendida (XR).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Técnicas Fundamentales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09728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Procesador (SoC)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ARM, multinúcleo. Apple A/M-series, Snapdragon, Dimensity. Integran CPU+GPU+NPU+5G.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9601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09728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34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 / Almacenamiento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LPDDR5X hasta 16 GB. Almacenamiento UFS 4.0 con velocidades &gt;4 GB/s.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109728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34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OLED/AMOLED vs LCD. Tasas de refresco de 60 a 144 Hz. Resoluciones Full HD+ a QHD+.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17320" y="306324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00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Batería y Carga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3.500-6.000 mAh. Carga rápida hasta 240W. Carga inalámbrica Qi2.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83280" y="292608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51960" y="306324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200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Conectividad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2044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6E/7, Bluetooth 5.4, NFC, UWB, GPS multibanda, 5G (77% de envíos en 2025).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6060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86600" y="3063240"/>
            <a:ext cx="731520" cy="731520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32004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4160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sensores: acelerómetro, giroscopio, LiDAR, huella dactilar, biometría facial.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Operativos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Móviles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 y el duopolio global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28800"/>
            <a:ext cx="777240" cy="777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Cuota de Mercado Global de SO Móviles (2026)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05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1005840"/>
            <a:ext cx="73152" cy="822960"/>
          </a:xfrm>
          <a:prstGeom prst="rect">
            <a:avLst/>
          </a:prstGeom>
          <a:solidFill>
            <a:srgbClr val="78C257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10058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8C2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3.900M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0" y="1005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Android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9659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965960"/>
            <a:ext cx="73152" cy="822960"/>
          </a:xfrm>
          <a:prstGeom prst="rect">
            <a:avLst/>
          </a:prstGeom>
          <a:solidFill>
            <a:srgbClr val="5AAAFA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1.560M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7760" y="29260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2926080"/>
            <a:ext cx="73152" cy="82296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4.700M+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5800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smartphones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388620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3886200"/>
            <a:ext cx="73152" cy="82296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886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99,6%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5800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combinado Android+iOS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StatCounter, IDC (2025-2026)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C2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914400"/>
            <a:ext cx="3931920" cy="457200"/>
          </a:xfrm>
          <a:prstGeom prst="rect">
            <a:avLst/>
          </a:prstGeom>
          <a:solidFill>
            <a:srgbClr val="78C25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Clave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Inc. (2003), adquirido por Google (2005). Lanzamiento: 2008.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(código abierto, AOSP).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actual: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15 (42,87% de adopción, mid-2025).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(~2,06M apps).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(oficial), Java. IDE: Android Studio.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(30,8%), Xiaomi (15,9%), Vivo, Oppo, Google, etc.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Fortalezas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4173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 y personalizable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de dispositivos y precios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mercados emergentes (India: 92%)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Sideloading y mayor flexibilidad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926080"/>
            <a:ext cx="40233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Desafíos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34290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de versiones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seguridad inconsistentes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superficie de ataque para malware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AAA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914400"/>
            <a:ext cx="3931920" cy="457200"/>
          </a:xfrm>
          <a:prstGeom prst="rect">
            <a:avLst/>
          </a:prstGeom>
          <a:solidFill>
            <a:srgbClr val="5AAA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Clave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(2007). Presentado con el primer iPhone por Steve Jobs.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XNU (Mach + BSD). Sistema propietario y cerrado.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actual: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18 (sept. 2024). &gt;70% de adopción rápida.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(~2,1M apps). 70% del gasto global.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(oficial), Objective-C. IDE: Xcode (solo macOS).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Apple. Integración vertical hardware+software.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Fortalezas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4173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 consistente y pulida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centralizadas y rápidas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monetización para desarrolladores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integrado Apple (Mac, iPad, Watch)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926080"/>
            <a:ext cx="402336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Desafíos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34290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cerrado, menor personalización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elevado (ASP ~USD 930)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exclusiva del hardware Apple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Comparación: Android vs iOS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Aspecto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Android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iOS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activos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3.900 millones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1.560 millones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/ Licencia gratuita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 / Propietario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Fabricantes HW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Múltiples (Samsung, Xiaomi…)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Tienda de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(~2,06M)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(~2,1M)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nativo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/ 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oficial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apps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 del gasto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 del gasto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prom. dispositivo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370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~USD 930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Asia, África, Latinoamérica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EE.UU., Japón, UK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Tendencias y Desafíos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Mercado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de aplicaciones móviles en constante evolución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945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Dimensiones del Mercado (2025)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$155.8B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global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y juegos (2025)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143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8C2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+21,6%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interanual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43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A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$79.5B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3756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Hito 2025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63040" y="3749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vez, las apps no-gaming superaron a los juegos en ingresos: USD 82.600M (no-gaming) vs USD 72.200M (gaming). Las suscripciones representan ~50% de todo el gasto en apps.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Tendencias Tecnológicas Clave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87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en el Dispositivo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298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NPUs dedicadas. Apple Intelligence, Gemini Nano, Galaxy AI. Procesamiento sin nube.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91440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51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987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5G y Edge Computing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298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de envíos con 5G. Baja latencia para AR, cloud gaming y telemedicina.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24028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Dispositivos Plegables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desafíos UX: adaptación dinámica de pantalla, continuidad al plegar/desplegar.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24028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Super-Apps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= múltiples servicios (pagos, mensajería, comercio). Modelo WeChat se expande.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56616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Suscripción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25880" y="3950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79.500M en 2025. iOS captura 3/4 del volumen. Paradigma dominante de monetización.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84632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566160"/>
            <a:ext cx="73152" cy="1143000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70332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Realidad Aumentada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623560" y="3950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 (iOS) y ARCore (Android). Aplicaciones en e-commerce, educación y entretenimiento.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Desafíos del Mercado de Aplicaciones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987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Fragmentación Android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298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fabricantes, miles de modelos, múltiples versiones activas del SO.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91440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51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987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Descubrimiento y Retención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298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+2M apps en cada tienda. Altas tasas de desinstalación en los primeros 30 días.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24028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Privacidad y Regulación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CCPA, App Tracking Transparency. Impacto en publicidad móvil.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24028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Malware, phishing, vulnerabilidades en APIs. Mayor superficie en ecosistemas abiertos.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566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de Desarrollo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25880" y="3950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nativo dual es costoso. Frameworks cross-platform como alternativa parcial.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84632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566160"/>
            <a:ext cx="73152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70332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Políticas de Tiendas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623560" y="39502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del 30%. DMA europeo fuerza apertura. Controversias legales globales.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64592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C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Accesibilidad 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Sostenibilidad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inclusivo y desarrollo de software verde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28800"/>
            <a:ext cx="777240" cy="777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Accesibilidad Móvil: Principios POUR (WCAG)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1.300 millones de personas viven con alguna discapacidad. El 72% de los recorridos de usuario en apps móviles presentan barreras de accesibilidad.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37160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160020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Perceptible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alternativos, subtítulos, contraste de color (ratio 4.5:1), no depender solo del color.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97480" y="137160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97480" y="1371600"/>
            <a:ext cx="19659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6002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78892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Operable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88920" y="28803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teclado, alternativas a gestos complejos, objetivos táctiles ≥24x24 px (WCAG 2.2).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137160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371600"/>
            <a:ext cx="19659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7"/>
          <p:cNvSpPr/>
          <p:nvPr/>
        </p:nvSpPr>
        <p:spPr>
          <a:xfrm>
            <a:off x="5440680" y="1600200"/>
            <a:ext cx="777240" cy="7772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54406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93776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Comprensible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37760" y="28803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claro, mensajes de error informativos, navegación consistente y predecible.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137160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995160" y="1371600"/>
            <a:ext cx="19659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3"/>
          <p:cNvSpPr/>
          <p:nvPr/>
        </p:nvSpPr>
        <p:spPr>
          <a:xfrm>
            <a:off x="7589520" y="1600200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708660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86600" y="28803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VoiceOver (iOS) y TalkBack (Android). Etiquetado semántico correcto.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Estándares: WCAG 2.2 (2023) | En desarrollo: WCAG 3.0 | Legislación: ADA (EE.UU.), EAA (Europa, junio 2025), EN 301 549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Sostenibilidad en el Desarrollo Móvil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868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TIC contribuye con ~3,7% de las emisiones globales de CO₂. Si Internet fuera un país, sería el 4° mayor contaminante del mundo.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9202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08483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Eficiencia Energética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algoritmos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procesos 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inteligente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datos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29000" y="169164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29000" y="169164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1"/>
          <p:cNvSpPr/>
          <p:nvPr/>
        </p:nvSpPr>
        <p:spPr>
          <a:xfrm>
            <a:off x="4297680" y="19202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8483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Consciencia del Carbono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6616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energía limpia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tareas pesadas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Wi-Fi + carga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verde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169164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16916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6"/>
          <p:cNvSpPr/>
          <p:nvPr/>
        </p:nvSpPr>
        <p:spPr>
          <a:xfrm>
            <a:off x="7178040" y="192024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208483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4652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Eficiencia de Hardware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4652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livianas = dispositivos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duran más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e-waste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(-30% energía OLED)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Green Software Foundation (greensoftware.foundation)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64592" cy="1828800"/>
          </a:xfrm>
          <a:prstGeom prst="rect">
            <a:avLst/>
          </a:prstGeom>
          <a:solidFill>
            <a:srgbClr val="00CC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 la Unidad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965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dispositivos móviles han evolucionado de teléfonos simples a ecosistemas computacionales completos.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560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 iOS dominan &gt;99% del mercado con fortalezas complementarias.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154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el dispositivo, 5G y suscripciones definen las tendencias actuales.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749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(WCAG) y sostenibilidad (Green Software) son imperativos del desarrollo moderno.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32E4F"/>
          </a:solidFill>
          <a:ln/>
        </p:spPr>
      </p:sp>
      <p:sp>
        <p:nvSpPr>
          <p:cNvPr id="14" name="Text 8"/>
          <p:cNvSpPr/>
          <p:nvPr/>
        </p:nvSpPr>
        <p:spPr>
          <a:xfrm>
            <a:off x="548640" y="4709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Ing. Carlos Acosta Parra  |  FTyCA — UNCA  |  Desarrollo de Aplicaciones Móviles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1 - Introducción a los Dispositivos Móviles y Sistemas Operativos</dc:title>
  <dc:subject>PptxGenJS Presentation</dc:subject>
  <dc:creator>Mg. Ing. Carlos Acosta Parra</dc:creator>
  <cp:lastModifiedBy>Mg. Ing. Carlos Acosta Parra</cp:lastModifiedBy>
  <cp:revision>1</cp:revision>
  <dcterms:created xsi:type="dcterms:W3CDTF">2026-03-16T19:14:40Z</dcterms:created>
  <dcterms:modified xsi:type="dcterms:W3CDTF">2026-03-16T19:14:40Z</dcterms:modified>
</cp:coreProperties>
</file>